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9" r:id="rId11"/>
    <p:sldId id="268" r:id="rId12"/>
    <p:sldId id="263" r:id="rId13"/>
    <p:sldId id="264" r:id="rId14"/>
    <p:sldId id="265" r:id="rId15"/>
    <p:sldId id="266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AFAF8"/>
                </a:solidFill>
                <a:latin typeface="Microsoft YaHei UI" panose="020B0503020204020204" charset="-122"/>
              </a:defRPr>
            </a:pPr>
            <a:r>
              <a:t>软件工程 · 毕业设计答辩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Aft>
                <a:spcPts val="0"/>
              </a:spcAft>
              <a:defRPr sz="5200" b="0">
                <a:solidFill>
                  <a:srgbClr val="FAFAF8"/>
                </a:solidFill>
                <a:latin typeface="Inter"/>
              </a:defRPr>
            </a:pPr>
            <a:r>
              <a:t>实验室资产与人员管理系统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AFAF8"/>
                </a:solidFill>
                <a:latin typeface="Inter"/>
              </a:defRPr>
            </a:pPr>
            <a:r>
              <a:t>基于 Go 技术栈的完整业务闭环纯后端系统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AFAF8"/>
                </a:solidFill>
                <a:latin typeface="Microsoft YaHei UI" panose="020B0503020204020204" charset="-122"/>
              </a:defRPr>
            </a:pPr>
            <a:r>
              <a:t>Gin · GORM · Redis · Casbin · JWT · Zap · Viper — 课程指定全技术栈集成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FAFAF8"/>
                </a:solidFill>
                <a:latin typeface="Cascadia Code" panose="020B0609020000020004"/>
              </a:defRPr>
            </a:pPr>
            <a:r>
              <a:t>黄子然 · 软件工程专业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6217920"/>
            <a:ext cx="137160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工程规范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四层分层架构设计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请求链路 (自上而下)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Gin 路由注册，中间件链编排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参数绑定校验，响应格式化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业务逻辑编排，事务与缓存策略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DAO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GORM 数据访问，FOR UPDATE 行锁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GORM 实体定义，状态机与常量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依赖注入 (main.go)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initDB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GORM + MySQL 连接池初始化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initRedis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go-redis v9 客户端初始化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initCasbin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Casbin + GORM Adapter 策略加载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Assemble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DAO → Service → Controller 注入组装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工程规范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中间件执行链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全局中间件 (所有路由)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safego 安全 goroutine 封装，panic 恢复 + 堆栈记录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RequestID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google/uuid 注入追踪 ID，全链路可追溯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可配置跨域策略，前端独立部署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Logger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Zap JSON 结构化日志：method/path/status/latency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受保护路由中间件 (/api/v1/*)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golang-jwt v5 解析 Bearer Token，黑名单校验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Casbin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RBAC 鉴权：Enforce(sub, obj, act)，拒绝记 Zap 日志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日志系统 · Zap + Lumberjack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A0A0A"/>
                </a:solidFill>
                <a:latin typeface="Inter"/>
              </a:defRPr>
            </a:pPr>
            <a:r>
              <a:t>结构化日志 · 按天切割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日志系统基于 go.uber.org/zap + gopkg.in/natefinch/lumberjack.v2 实现：</a:t>
            </a:r>
            <a:br/>
            <a:br/>
            <a:r>
              <a:t>■ zapcore.NewTee — 同时输出到控制台和文件</a:t>
            </a:r>
            <a:br/>
            <a:r>
              <a:t>■ JSON 编码器 — 可被 ELK 等日志平台直接采集</a:t>
            </a:r>
            <a:br/>
            <a:r>
              <a:t>■ Lumberjack 滚动策略 — 单文件最大 100MB，保留 30 个备份，最长 7 天</a:t>
            </a:r>
            <a:br/>
            <a:r>
              <a:t>■ 旧日志自动 gzip 压缩</a:t>
            </a:r>
            <a:br/>
            <a:br/>
            <a:r>
              <a:t>所有接口请求、数据库慢查询、异常报错均已实现结构化记录与自动切割。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36576" cy="6400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config.yaml → log.level: info / max_size: 100 / max_backups: 30 / max_age: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backend/pkg/zap/zap.go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8310" y="1018540"/>
            <a:ext cx="3246120" cy="12877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40940"/>
            <a:ext cx="4932680" cy="18853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310" y="4460875"/>
            <a:ext cx="499237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日志系统 · Zap + Lumberjack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A0A0A"/>
                </a:solidFill>
                <a:latin typeface="Inter"/>
              </a:defRPr>
            </a:pPr>
            <a:r>
              <a:t>结构化日志 · 按天切割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日志系统基于 go.uber.org/zap + gopkg.in/natefinch/lumberjack.v2 实现：</a:t>
            </a:r>
            <a:br/>
            <a:br/>
            <a:r>
              <a:t>■ zapcore.NewTee — 同时输出到控制台和文件</a:t>
            </a:r>
            <a:br/>
            <a:r>
              <a:t>■ JSON 编码器 — 可被 ELK 等日志平台直接采集</a:t>
            </a:r>
            <a:br/>
            <a:r>
              <a:t>■ Lumberjack 滚动策略 — 单文件最大 100MB，保留 30 个备份，最长 7 天</a:t>
            </a:r>
            <a:br/>
            <a:r>
              <a:t>■ 旧日志自动 gzip 压缩</a:t>
            </a:r>
            <a:br/>
            <a:br/>
            <a:r>
              <a:t>所有接口请求、数据库慢查询、异常报错均已实现结构化记录与自动切割。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6720" y="3850640"/>
            <a:ext cx="76200" cy="9702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425" y="3815080"/>
            <a:ext cx="3038475" cy="1005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625" y="2414270"/>
            <a:ext cx="5539740" cy="3807460"/>
          </a:xfrm>
          <a:prstGeom prst="rect">
            <a:avLst/>
          </a:prstGeom>
        </p:spPr>
      </p:pic>
      <p:cxnSp>
        <p:nvCxnSpPr>
          <p:cNvPr id="9" name="直接连接符 8"/>
          <p:cNvCxnSpPr>
            <a:stCxn id="13" idx="3"/>
          </p:cNvCxnSpPr>
          <p:nvPr/>
        </p:nvCxnSpPr>
        <p:spPr>
          <a:xfrm flipV="1">
            <a:off x="6311900" y="2414270"/>
            <a:ext cx="339725" cy="1903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329045" y="4561840"/>
            <a:ext cx="322580" cy="1659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配置管理 · Viper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A0A0A"/>
                </a:solidFill>
                <a:latin typeface="Inter"/>
              </a:defRPr>
            </a:pPr>
            <a:r>
              <a:t>配置分离 · 环境变量覆盖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配置管理使用 github.com/spf13/viper 实现代码与配置的完全分离：</a:t>
            </a:r>
            <a:br/>
            <a:br/>
            <a:r>
              <a:t>■ config.yaml — 集中管理所有环境参数（MySQL/Redis/JWT/Log/CORS）</a:t>
            </a:r>
            <a:br/>
            <a:r>
              <a:t>■ 环境变量覆盖 — 前缀 LAB_，自动将点号转为下划线</a:t>
            </a:r>
            <a:br/>
            <a:r>
              <a:t>■ 示例：LAB_JWT_SECRET 覆盖 jwt.secret，容器化部署零代码修改</a:t>
            </a:r>
            <a:br/>
            <a:r>
              <a:t>■ AutomaticEnv — 自动绑定环境变量</a:t>
            </a:r>
            <a:br/>
            <a:br/>
            <a:r>
              <a:t>所有配置项通过 mapstructure 标签映射到 Config 结构体，编译期类型安全。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36576" cy="6400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backend/pkg/config/config.go · backend/conf/config.yaml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130" y="949960"/>
            <a:ext cx="5436235" cy="5202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认证与安全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0A0A0A"/>
                </a:solidFill>
                <a:latin typeface="Inter"/>
              </a:defRPr>
            </a:pPr>
            <a:r>
              <a:t>多层安全防护体系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从密码存储到接口限流，全链路安全设计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JWT 签名算法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HS256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golang-jwt/jwt/v5 · Claims 嵌入角色信息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密码哈希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bcrypt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golang.org/x/crypto · 数据库永不明文存储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登录限流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10次/分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go-redis v9 固定窗口 · 每 IP 独立计数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JWT 黑名单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154680"/>
            <a:ext cx="26460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SHA-256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Redis 存储 Token 哈希 · 登出即时失效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66344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统一错误码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30803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1xxx-5xxx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errcode 包 · 统一 JSON 响应格式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466344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参数校验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074920"/>
            <a:ext cx="26714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Validator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go-playground/validator · Gin binding 标签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权限控制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Casbin RBAC 鉴权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5029200" cy="457200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54864" cy="457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029200" cy="457200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54864" cy="457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530" y="4028440"/>
            <a:ext cx="6027420" cy="28956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945" y="1737360"/>
            <a:ext cx="7551420" cy="20193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r="37703"/>
          <a:stretch>
            <a:fillRect/>
          </a:stretch>
        </p:blipFill>
        <p:spPr>
          <a:xfrm>
            <a:off x="1085215" y="4104640"/>
            <a:ext cx="4686935" cy="2096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权限控制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Casbin RBAC 鉴权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029200" cy="457200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54864" cy="457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685" y="0"/>
            <a:ext cx="7264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权限控制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Casbin RBAC 鉴权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5029200" cy="4572000"/>
          </a:xfrm>
          <a:prstGeom prst="rect">
            <a:avLst/>
          </a:prstGeom>
          <a:solidFill>
            <a:srgbClr val="F0F0EE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54864" cy="457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普通成员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A0A0A"/>
                </a:solidFill>
                <a:latin typeface="Inter"/>
              </a:defRPr>
            </a:pPr>
            <a:r>
              <a:t>403 Forbidden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角色: member (普通成员)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请求: POST /api/v1/borrow/approve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Casbin 策略匹配: member 无审批权限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enforcer.Enforce() → 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5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返回: 403 + errcode 4001（权限不足）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Zap 日志记录: user_id/path/method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029200" cy="457200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54864" cy="4572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实验室负责人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A0A0A"/>
                </a:solidFill>
                <a:latin typeface="Inter"/>
              </a:defRPr>
            </a:pPr>
            <a:r>
              <a:t>200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83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角色: lab_admin (实验室负责人)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请求: POST /api/v1/borrow/approve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31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Casbin 策略匹配: lab_admin 正则匹配通过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enforcer.Enforce() →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5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返回: 200 + 审批成功响应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548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• 角色继承链: super_admin → lab_admin → equipment_manager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缓存优化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Redis Cache-Aside 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读流程 (设备列表查询)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Client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前端请求 GET /api/v1/equipment/list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Redis 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查询 equipment:list:* 缓存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Cache Hit?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命中 → 直接返回 JSON，数据库零压力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MySQL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未命中 → GORM 查询 + 写入 Redis 设 TTL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返回数据，下次请求即可命中缓存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写流程 (设备借出/归还/修改)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Write 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借出/归还/修改 → GORM 更新 MySQL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Invalidate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主动 DELETE 对应 Redis 缓存 Key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438912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Next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下次查询 Miss → 回源 MySQL → 写入新缓存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事务与并发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A0A0A"/>
                </a:solidFill>
                <a:latin typeface="Inter"/>
              </a:defRPr>
            </a:pPr>
            <a:r>
              <a:t>GORM 事务 + 行级锁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借阅审批事务流程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Begin 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db.Transaction(func(tx *gorm.DB) 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FOR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clause.Locking 对借阅记录+设备行加排他锁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Update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借阅记录状态 → '已通过' (通过 tx 实例)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Update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设备 available-- 扣减库存 (通过 tx 实例)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377440"/>
            <a:ext cx="1828800" cy="2743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24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A0A0A"/>
                </a:solidFill>
                <a:latin typeface="Inter"/>
              </a:defRPr>
            </a:pPr>
            <a:r>
              <a:t>Commit / 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全部成功 → Commit；任一失败 → 自动 Rollback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Cascadia Code" panose="020B0609020000020004"/>
              </a:defRPr>
            </a:pPr>
            <a:r>
              <a:t>数据库优化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0A0A0A"/>
                </a:solidFill>
                <a:latin typeface="Inter"/>
              </a:defRPr>
            </a:pPr>
            <a:r>
              <a:t>连接池与索引优化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GORM + MySQL 生产级数据库配置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最大连接数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SetMaxOpenConns(100)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空闲连接数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SetMaxIdleConns(10)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连接最大存活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1h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SetConnMaxLifetime(time.Hour)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74320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GORM 日志级别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154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Warn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避免生产刷屏 + Zap 记录慢查询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66344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高频索引字段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3+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06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equipment.status / borrow.user_id / borrow.status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4663440"/>
            <a:ext cx="246888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ascadia Code" panose="020B0609020000020004"/>
              </a:defRPr>
            </a:pPr>
            <a:r>
              <a:t>AutoMigrate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074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2FA7"/>
                </a:solidFill>
                <a:latin typeface="Inter"/>
              </a:defRPr>
            </a:pPr>
            <a:r>
              <a:t>4 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5806440"/>
            <a:ext cx="1431925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SysUser · </a:t>
            </a:r>
          </a:p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SysRole · </a:t>
            </a:r>
          </a:p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LabEquipment · </a:t>
            </a:r>
          </a:p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BorrowRecord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60"/>
              </a:lnSpc>
              <a:spcAft>
                <a:spcPts val="0"/>
              </a:spcAft>
              <a:defRPr sz="4800" b="0">
                <a:solidFill>
                  <a:srgbClr val="FAFAF8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AFAF8"/>
                </a:solidFill>
                <a:latin typeface="Microsoft YaHei UI" panose="020B0503020204020204" charset="-122"/>
              </a:defRPr>
            </a:pPr>
            <a:r>
              <a:t>配置层 Viper · 日志层 Zap+Lumberjack · 传输层 Gin+Validator · 认证层 JWT+bcrypt · 鉴权层 Casbin+GORMAdapter · 缓存层 go-redis · 持久层 GORM+MySQL · 安全层 Recovery+RateLimit+CORS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Aft>
                <a:spcPts val="0"/>
              </a:spcAft>
              <a:defRPr sz="1200" b="0">
                <a:solidFill>
                  <a:srgbClr val="FAFAF8"/>
                </a:solidFill>
                <a:latin typeface="Cascadia Code" panose="020B0609020000020004"/>
              </a:defRPr>
            </a:pPr>
            <a:r>
              <a:t>黄子然 · 软件工程专业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5943600"/>
            <a:ext cx="210312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3461</Words>
  <Application>WPS 演示</Application>
  <PresentationFormat>On-screen Show (4:3)</PresentationFormat>
  <Paragraphs>369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Arial</vt:lpstr>
      <vt:lpstr>Microsoft YaHei UI</vt:lpstr>
      <vt:lpstr>Inter</vt:lpstr>
      <vt:lpstr>Segoe Print</vt:lpstr>
      <vt:lpstr>Cascadia Code</vt:lpstr>
      <vt:lpstr>Calibri</vt:lpstr>
      <vt:lpstr>微软雅黑</vt:lpstr>
      <vt:lpstr>Arial Unicode MS</vt:lpstr>
      <vt:lpstr>Cascadia Code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蓝军总司令</cp:lastModifiedBy>
  <cp:revision>3</cp:revision>
  <dcterms:created xsi:type="dcterms:W3CDTF">2013-01-27T09:14:00Z</dcterms:created>
  <dcterms:modified xsi:type="dcterms:W3CDTF">2026-06-21T07:46:18Z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D95924B7C8B1472988C9D479573325C1_12</vt:lpwstr>
  </property>
</Properties>
</file>