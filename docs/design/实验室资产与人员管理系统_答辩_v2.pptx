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FAFAF8"/>
                </a:solidFill>
                <a:latin typeface="Microsoft YaHei UI"/>
              </a:defRPr>
            </a:pPr>
            <a:r>
              <a:t>软件工程 · 毕业设计答辩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240"/>
              </a:lnSpc>
              <a:spcAft>
                <a:spcPts val="0"/>
              </a:spcAft>
              <a:defRPr sz="5200" b="0">
                <a:solidFill>
                  <a:srgbClr val="FAFAF8"/>
                </a:solidFill>
                <a:latin typeface="Inter"/>
              </a:defRPr>
            </a:pPr>
            <a:r>
              <a:t>实验室资产与人员管理系统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AFAF8"/>
                </a:solidFill>
                <a:latin typeface="Inter"/>
              </a:defRPr>
            </a:pPr>
            <a:r>
              <a:t>基于 Go 技术栈的完整业务闭环纯后端系统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4805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AFAF8"/>
                </a:solidFill>
                <a:latin typeface="Microsoft YaHei UI"/>
              </a:defRPr>
            </a:pPr>
            <a:r>
              <a:t>Gin · GORM · Redis · Casbin · JWT · Zap · Viper — 课程指定全技术栈集成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FAFAF8"/>
                </a:solidFill>
                <a:latin typeface="Cascadia Code"/>
              </a:defRPr>
            </a:pPr>
            <a:r>
              <a:t>黄子然 · 软件工程专业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6217920"/>
            <a:ext cx="1371600" cy="36576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Cascadia Code"/>
              </a:defRPr>
            </a:pPr>
            <a:r>
              <a:t>工程规范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0">
                <a:solidFill>
                  <a:srgbClr val="0A0A0A"/>
                </a:solidFill>
                <a:latin typeface="Inter"/>
              </a:defRPr>
            </a:pPr>
            <a:r>
              <a:t>四层分层架构设计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37373"/>
                </a:solidFill>
                <a:latin typeface="Cascadia Code"/>
              </a:defRPr>
            </a:pPr>
            <a:r>
              <a:t>请求链路 (自上而下)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/>
              </a:defRPr>
            </a:pPr>
            <a:r>
              <a:t>Gin 路由注册，中间件链编排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/>
              </a:defRPr>
            </a:pPr>
            <a:r>
              <a:t>参数绑定校验，响应格式化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/>
              </a:defRPr>
            </a:pPr>
            <a:r>
              <a:t>业务逻辑编排，事务与缓存策略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DAO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/>
              </a:defRPr>
            </a:pPr>
            <a:r>
              <a:t>GORM 数据访问，FOR UPDATE 行锁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/>
              </a:defRPr>
            </a:pPr>
            <a:r>
              <a:t>GORM 实体定义，状态机与常量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931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37373"/>
                </a:solidFill>
                <a:latin typeface="Cascadia Code"/>
              </a:defRPr>
            </a:pPr>
            <a:r>
              <a:t>依赖注入 (main.go)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38912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initDB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/>
              </a:defRPr>
            </a:pPr>
            <a:r>
              <a:t>GORM + MySQL 连接池初始化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63240" y="438912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6324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initRedis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/>
              </a:defRPr>
            </a:pPr>
            <a:r>
              <a:t>go-redis v9 客户端初始化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12080" y="438912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8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initCasbin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/>
              </a:defRPr>
            </a:pPr>
            <a:r>
              <a:t>Casbin + GORM Adapter 策略加载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60920" y="438912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6092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Assemble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/>
              </a:defRPr>
            </a:pPr>
            <a:r>
              <a:t>DAO → Service → Controller 注入组装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Cascadia Code"/>
              </a:defRPr>
            </a:pPr>
            <a:r>
              <a:t>工程规范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0">
                <a:solidFill>
                  <a:srgbClr val="0A0A0A"/>
                </a:solidFill>
                <a:latin typeface="Inter"/>
              </a:defRPr>
            </a:pPr>
            <a:r>
              <a:t>中间件执行链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37373"/>
                </a:solidFill>
                <a:latin typeface="Cascadia Code"/>
              </a:defRPr>
            </a:pPr>
            <a:r>
              <a:t>全局中间件 (所有路由)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/>
              </a:defRPr>
            </a:pPr>
            <a:r>
              <a:t>safego 安全 goroutine 封装，panic 恢复 + 堆栈记录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RequestID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/>
              </a:defRPr>
            </a:pPr>
            <a:r>
              <a:t>google/uuid 注入追踪 ID，全链路可追溯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CORS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/>
              </a:defRPr>
            </a:pPr>
            <a:r>
              <a:t>可配置跨域策略，前端独立部署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Logger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/>
              </a:defRPr>
            </a:pPr>
            <a:r>
              <a:t>Zap JSON 结构化日志：method/path/status/latency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931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37373"/>
                </a:solidFill>
                <a:latin typeface="Cascadia Code"/>
              </a:defRPr>
            </a:pPr>
            <a:r>
              <a:t>受保护路由中间件 (/api/v1/*)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38912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Auth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/>
              </a:defRPr>
            </a:pPr>
            <a:r>
              <a:t>golang-jwt v5 解析 Bearer Token，黑名单校验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40" y="438912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4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Casbin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/>
              </a:defRPr>
            </a:pPr>
            <a:r>
              <a:t>RBAC 鉴权：Enforce(sub, obj, act)，拒绝记 Zap 日志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Cascadia Code"/>
              </a:defRPr>
            </a:pPr>
            <a:r>
              <a:t>日志系统 · Zap + Lumberjack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0A0A0A"/>
                </a:solidFill>
                <a:latin typeface="Inter"/>
              </a:defRPr>
            </a:pPr>
            <a:r>
              <a:t>结构化日志 · 按天切割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/>
              </a:defRPr>
            </a:pPr>
            <a:r>
              <a:t>日志系统基于 go.uber.org/zap + gopkg.in/natefinch/lumberjack.v2 实现：</a:t>
            </a:r>
            <a:br/>
            <a:br/>
            <a:r>
              <a:t>■ zapcore.NewTee — 同时输出到控制台和文件</a:t>
            </a:r>
            <a:br/>
            <a:r>
              <a:t>■ JSON 编码器 — 可被 ELK 等日志平台直接采集</a:t>
            </a:r>
            <a:br/>
            <a:r>
              <a:t>■ Lumberjack 滚动策略 — 单文件最大 100MB，保留 30 个备份，最长 7 天</a:t>
            </a:r>
            <a:br/>
            <a:r>
              <a:t>■ 旧日志自动 gzip 压缩</a:t>
            </a:r>
            <a:br/>
            <a:br/>
            <a:r>
              <a:t>所有接口请求、数据库慢查询、异常报错均已实现结构化记录与自动切割。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029200"/>
            <a:ext cx="36576" cy="64008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029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/>
              </a:defRPr>
            </a:pPr>
            <a:r>
              <a:t>config.yaml → log.level: info / max_size: 100 / max_backups: 30 / max_age: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486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Cascadia Code"/>
              </a:defRPr>
            </a:pPr>
            <a:r>
              <a:t>backend/pkg/zap/zap.go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097280"/>
            <a:ext cx="4389120" cy="5029200"/>
          </a:xfrm>
          <a:prstGeom prst="rect">
            <a:avLst/>
          </a:prstGeom>
          <a:solidFill>
            <a:srgbClr val="F0F0EE"/>
          </a:solidFill>
          <a:ln w="6350">
            <a:solidFill>
              <a:srgbClr val="D4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737373"/>
                </a:solidFill>
              </a:defRPr>
            </a:pPr>
            <a:r>
              <a:t>[Image: placeholder_zap_log_output.png]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Cascadia Code"/>
              </a:defRPr>
            </a:pPr>
            <a:r>
              <a:t>配置管理 · Viper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0A0A0A"/>
                </a:solidFill>
                <a:latin typeface="Inter"/>
              </a:defRPr>
            </a:pPr>
            <a:r>
              <a:t>配置分离 · 环境变量覆盖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/>
              </a:defRPr>
            </a:pPr>
            <a:r>
              <a:t>配置管理使用 github.com/spf13/viper 实现代码与配置的完全分离：</a:t>
            </a:r>
            <a:br/>
            <a:br/>
            <a:r>
              <a:t>■ config.yaml — 集中管理所有环境参数（MySQL/Redis/JWT/Log/CORS）</a:t>
            </a:r>
            <a:br/>
            <a:r>
              <a:t>■ 环境变量覆盖 — 前缀 LAB_，自动将点号转为下划线</a:t>
            </a:r>
            <a:br/>
            <a:r>
              <a:t>■ 示例：LAB_JWT_SECRET 覆盖 jwt.secret，容器化部署零代码修改</a:t>
            </a:r>
            <a:br/>
            <a:r>
              <a:t>■ AutomaticEnv — 自动绑定环境变量</a:t>
            </a:r>
            <a:br/>
            <a:br/>
            <a:r>
              <a:t>所有配置项通过 mapstructure 标签映射到 Config 结构体，编译期类型安全。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029200"/>
            <a:ext cx="36576" cy="64008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029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/>
              </a:defRPr>
            </a:pPr>
            <a:r>
              <a:t>backend/pkg/config/config.go · backend/conf/config.yaml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097280"/>
            <a:ext cx="4389120" cy="5029200"/>
          </a:xfrm>
          <a:prstGeom prst="rect">
            <a:avLst/>
          </a:prstGeom>
          <a:solidFill>
            <a:srgbClr val="F0F0EE"/>
          </a:solidFill>
          <a:ln w="6350">
            <a:solidFill>
              <a:srgbClr val="D4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737373"/>
                </a:solidFill>
              </a:defRPr>
            </a:pPr>
            <a:r>
              <a:t>[Image: placeholder_viper_config.png]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Cascadia Code"/>
              </a:defRPr>
            </a:pPr>
            <a:r>
              <a:t>认证与安全 ·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0">
                <a:solidFill>
                  <a:srgbClr val="0A0A0A"/>
                </a:solidFill>
                <a:latin typeface="Inter"/>
              </a:defRPr>
            </a:pPr>
            <a:r>
              <a:t>多层安全防护体系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0A0A0A"/>
                </a:solidFill>
                <a:latin typeface="Microsoft YaHei UI"/>
              </a:defRPr>
            </a:pPr>
            <a:r>
              <a:t>从密码存储到接口限流，全链路安全设计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743200"/>
            <a:ext cx="246888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Cascadia Code"/>
              </a:defRPr>
            </a:pPr>
            <a:r>
              <a:t>JWT 签名算法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154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2FA7"/>
                </a:solidFill>
                <a:latin typeface="Inter"/>
              </a:defRPr>
            </a:pPr>
            <a:r>
              <a:t>HS256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0A0A0A"/>
                </a:solidFill>
                <a:latin typeface="Microsoft YaHei UI"/>
              </a:defRPr>
            </a:pPr>
            <a:r>
              <a:t>golang-jwt/jwt/v5 · Claims 嵌入角色信息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4760" y="2743200"/>
            <a:ext cx="246888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4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Cascadia Code"/>
              </a:defRPr>
            </a:pPr>
            <a:r>
              <a:t>密码哈希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40" y="3154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2FA7"/>
                </a:solidFill>
                <a:latin typeface="Inter"/>
              </a:defRPr>
            </a:pPr>
            <a:r>
              <a:t>bcrypt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0A0A0A"/>
                </a:solidFill>
                <a:latin typeface="Microsoft YaHei UI"/>
              </a:defRPr>
            </a:pPr>
            <a:r>
              <a:t>golang.org/x/crypto · 数据库永不明文存储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743200"/>
            <a:ext cx="246888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Cascadia Code"/>
              </a:defRPr>
            </a:pPr>
            <a:r>
              <a:t>登录限流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154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2FA7"/>
                </a:solidFill>
                <a:latin typeface="Inter"/>
              </a:defRPr>
            </a:pPr>
            <a:r>
              <a:t>10次/分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0A0A0A"/>
                </a:solidFill>
                <a:latin typeface="Microsoft YaHei UI"/>
              </a:defRPr>
            </a:pPr>
            <a:r>
              <a:t>go-redis v9 固定窗口 · 每 IP 独立计数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2743200"/>
            <a:ext cx="246888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Cascadia Code"/>
              </a:defRPr>
            </a:pPr>
            <a:r>
              <a:t>JWT 黑名单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154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2FA7"/>
                </a:solidFill>
                <a:latin typeface="Inter"/>
              </a:defRPr>
            </a:pPr>
            <a:r>
              <a:t>SHA-256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0A0A0A"/>
                </a:solidFill>
                <a:latin typeface="Microsoft YaHei UI"/>
              </a:defRPr>
            </a:pPr>
            <a:r>
              <a:t>Redis 存储 Token 哈希 · 登出即时失效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4663440"/>
            <a:ext cx="246888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800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Cascadia Code"/>
              </a:defRPr>
            </a:pPr>
            <a:r>
              <a:t>统一错误码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074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2FA7"/>
                </a:solidFill>
                <a:latin typeface="Inter"/>
              </a:defRPr>
            </a:pPr>
            <a:r>
              <a:t>1xxx-5xxx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806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0A0A0A"/>
                </a:solidFill>
                <a:latin typeface="Microsoft YaHei UI"/>
              </a:defRPr>
            </a:pPr>
            <a:r>
              <a:t>errcode 包 · 统一 JSON 响应格式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94760" y="4663440"/>
            <a:ext cx="246888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77640" y="4800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Cascadia Code"/>
              </a:defRPr>
            </a:pPr>
            <a:r>
              <a:t>参数校验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40" y="5074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2FA7"/>
                </a:solidFill>
                <a:latin typeface="Inter"/>
              </a:defRPr>
            </a:pPr>
            <a:r>
              <a:t>Validator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40" y="5806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0A0A0A"/>
                </a:solidFill>
                <a:latin typeface="Microsoft YaHei UI"/>
              </a:defRPr>
            </a:pPr>
            <a:r>
              <a:t>go-playground/validator · Gin binding 标签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Cascadia Code"/>
              </a:defRPr>
            </a:pPr>
            <a:r>
              <a:t>权限控制 ·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0">
                <a:solidFill>
                  <a:srgbClr val="0A0A0A"/>
                </a:solidFill>
                <a:latin typeface="Inter"/>
              </a:defRPr>
            </a:pPr>
            <a:r>
              <a:t>Casbin RBAC 鉴权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94560"/>
            <a:ext cx="5029200" cy="4572000"/>
          </a:xfrm>
          <a:prstGeom prst="rect">
            <a:avLst/>
          </a:prstGeom>
          <a:solidFill>
            <a:srgbClr val="F0F0EE"/>
          </a:solidFill>
          <a:ln w="6350">
            <a:solidFill>
              <a:srgbClr val="D4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54864" cy="4572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4688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0A0A0A"/>
                </a:solidFill>
                <a:latin typeface="Cascadia Code"/>
              </a:defRPr>
            </a:pPr>
            <a:r>
              <a:t>普通成员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880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A0A0A"/>
                </a:solidFill>
                <a:latin typeface="Inter"/>
              </a:defRPr>
            </a:pPr>
            <a:r>
              <a:t>403 Forbidden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832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/>
              </a:defRPr>
            </a:pPr>
            <a:r>
              <a:t>• 角色: member (普通成员)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576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/>
              </a:defRPr>
            </a:pPr>
            <a:r>
              <a:t>• 请求: POST /api/v1/borrow/approve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319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/>
              </a:defRPr>
            </a:pPr>
            <a:r>
              <a:t>• Casbin 策略匹配: member 无审批权限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062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/>
              </a:defRPr>
            </a:pPr>
            <a:r>
              <a:t>• enforcer.Enforce() → false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48055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/>
              </a:defRPr>
            </a:pPr>
            <a:r>
              <a:t>• 返回: 403 + errcode 4001（权限不足）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5487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/>
              </a:defRPr>
            </a:pPr>
            <a:r>
              <a:t>• Zap 日志记录: user_id/path/method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194560"/>
            <a:ext cx="5029200" cy="457200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94560"/>
            <a:ext cx="54864" cy="4572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4688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0A0A0A"/>
                </a:solidFill>
                <a:latin typeface="Cascadia Code"/>
              </a:defRPr>
            </a:pPr>
            <a:r>
              <a:t>实验室负责人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880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A0A0A"/>
                </a:solidFill>
                <a:latin typeface="Inter"/>
              </a:defRPr>
            </a:pPr>
            <a:r>
              <a:t>200 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3832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/>
              </a:defRPr>
            </a:pPr>
            <a:r>
              <a:t>• 角色: lab_admin (实验室负责人)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6576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/>
              </a:defRPr>
            </a:pPr>
            <a:r>
              <a:t>• 请求: POST /api/v1/borrow/approve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9319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/>
              </a:defRPr>
            </a:pPr>
            <a:r>
              <a:t>• Casbin 策略匹配: lab_admin 正则匹配通过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2062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/>
              </a:defRPr>
            </a:pPr>
            <a:r>
              <a:t>• enforcer.Enforce() → true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48055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/>
              </a:defRPr>
            </a:pPr>
            <a:r>
              <a:t>• 返回: 200 + 审批成功响应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75487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/>
              </a:defRPr>
            </a:pPr>
            <a:r>
              <a:t>• 角色继承链: super_admin → lab_admin → equipment_manager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Cascadia Code"/>
              </a:defRPr>
            </a:pPr>
            <a:r>
              <a:t>权限控制 · Casbin 配置详解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0A0A0A"/>
                </a:solidFill>
                <a:latin typeface="Inter"/>
              </a:defRPr>
            </a:pPr>
            <a:r>
              <a:t>RBAC 模型 · 角色继承 · 策略持久化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/>
              </a:defRPr>
            </a:pPr>
            <a:r>
              <a:t>【Model 定义】conf/rbac_model.conf</a:t>
            </a:r>
            <a:br/>
            <a:r>
              <a:t>  r = sub, obj, act          — 请求：谁 对 什么资源 做 什么操作</a:t>
            </a:r>
            <a:br/>
            <a:r>
              <a:t>  p = sub, obj, act          — 策略：谁 可以 对 什么资源 做 什么操作</a:t>
            </a:r>
            <a:br/>
            <a:r>
              <a:t>  g = _, _                   — 角色继承：下级自动拥有上级权限</a:t>
            </a:r>
            <a:br/>
            <a:r>
              <a:t>  e = some(where(p.eft==allow)) — 任意一条策略匹配即放行</a:t>
            </a:r>
            <a:br/>
            <a:r>
              <a:t>  m = g(r.sub,p.sub) &amp;&amp; keyMatch2(r.obj,p.obj) &amp;&amp; regexMatch(r.act,p.act)</a:t>
            </a:r>
            <a:br/>
            <a:br/>
            <a:r>
              <a:t>【Adapter】github.com/casbin/gorm-adapter/v3</a:t>
            </a:r>
            <a:br/>
            <a:r>
              <a:t>  策略存储在 MySQL casbin_rule 表，增删即时生效，无需重启服务</a:t>
            </a:r>
            <a:br/>
            <a:br/>
            <a:r>
              <a:t>【5 角色 + 继承链】g 函数实现逐级继承</a:t>
            </a:r>
            <a:br/>
            <a:r>
              <a:t>  super_admin → lab_admin → equipment_manager</a:t>
            </a:r>
            <a:br/>
            <a:r>
              <a:t>  上级角色自动拥有下级角色的全部权限</a:t>
            </a:r>
            <a:br/>
            <a:br/>
            <a:r>
              <a:t>【30+ 条策略】逐条幂等写入</a:t>
            </a:r>
            <a:br/>
            <a:r>
              <a:t>  super_admin: /api/v1/*  .*        (全局)</a:t>
            </a:r>
            <a:br/>
            <a:r>
              <a:t>  lab_admin:    /api/v1/users* .*   (用户管理)</a:t>
            </a:r>
            <a:br/>
            <a:r>
              <a:t>  member:       /api/v1/equipments* GET (只读设备)</a:t>
            </a:r>
            <a:br/>
            <a:r>
              <a:t>  viewer:       /api/v1/equipments* GET (只读观察)</a:t>
            </a:r>
            <a:br/>
            <a:br/>
            <a:r>
              <a:t>【中间件】router/middleware/casbin.go</a:t>
            </a:r>
            <a:br/>
            <a:r>
              <a:t>  提取 role_name → Enforce(sub, obj, act) → 拒绝记 Zap 日志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029200"/>
            <a:ext cx="36576" cy="64008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029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/>
              </a:defRPr>
            </a:pPr>
            <a:r>
              <a:t>Enforce('member', '/api/v1/borrows/1/approve', 'POST') → false → 403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486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Cascadia Code"/>
              </a:defRPr>
            </a:pPr>
            <a:r>
              <a:t>conf/rbac_model.conf · cmd/main.go:seedData() · middleware/casbin.go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097280"/>
            <a:ext cx="4389120" cy="5029200"/>
          </a:xfrm>
          <a:prstGeom prst="rect">
            <a:avLst/>
          </a:prstGeom>
          <a:solidFill>
            <a:srgbClr val="F0F0EE"/>
          </a:solidFill>
          <a:ln w="6350">
            <a:solidFill>
              <a:srgbClr val="D4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737373"/>
                </a:solidFill>
              </a:defRPr>
            </a:pPr>
            <a:r>
              <a:t>[Image: placeholder_casbin_roles.png]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Cascadia Code"/>
              </a:defRPr>
            </a:pPr>
            <a:r>
              <a:t>缓存优化 ·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0">
                <a:solidFill>
                  <a:srgbClr val="0A0A0A"/>
                </a:solidFill>
                <a:latin typeface="Inter"/>
              </a:defRPr>
            </a:pPr>
            <a:r>
              <a:t>Redis Cache-Aside 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37373"/>
                </a:solidFill>
                <a:latin typeface="Cascadia Code"/>
              </a:defRPr>
            </a:pPr>
            <a:r>
              <a:t>读流程 (设备列表查询)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Client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/>
              </a:defRPr>
            </a:pPr>
            <a:r>
              <a:t>前端请求 GET /api/v1/equipment/list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Redis 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/>
              </a:defRPr>
            </a:pPr>
            <a:r>
              <a:t>查询 equipment:list:* 缓存 Key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Cache Hit?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/>
              </a:defRPr>
            </a:pPr>
            <a:r>
              <a:t>命中 → 直接返回 JSON，数据库零压力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MySQL 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/>
              </a:defRPr>
            </a:pPr>
            <a:r>
              <a:t>未命中 → GORM 查询 + 写入 Redis 设 TTL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Return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/>
              </a:defRPr>
            </a:pPr>
            <a:r>
              <a:t>返回数据，下次请求即可命中缓存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931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37373"/>
                </a:solidFill>
                <a:latin typeface="Cascadia Code"/>
              </a:defRPr>
            </a:pPr>
            <a:r>
              <a:t>写流程 (设备借出/归还/修改)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38912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Write 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/>
              </a:defRPr>
            </a:pPr>
            <a:r>
              <a:t>借出/归还/修改 → GORM 更新 MySQL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63240" y="438912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6324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Invalidate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/>
              </a:defRPr>
            </a:pPr>
            <a:r>
              <a:t>主动 DELETE 对应 Redis 缓存 Key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12080" y="438912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8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Next Read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/>
              </a:defRPr>
            </a:pPr>
            <a:r>
              <a:t>下次查询 Miss → 回源 MySQL → 写入新缓存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Cascadia Code"/>
              </a:defRPr>
            </a:pPr>
            <a:r>
              <a:t>事务与并发 ·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0">
                <a:solidFill>
                  <a:srgbClr val="0A0A0A"/>
                </a:solidFill>
                <a:latin typeface="Inter"/>
              </a:defRPr>
            </a:pPr>
            <a:r>
              <a:t>GORM 事务 + 行级锁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37373"/>
                </a:solidFill>
                <a:latin typeface="Cascadia Code"/>
              </a:defRPr>
            </a:pPr>
            <a:r>
              <a:t>借阅审批事务流程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Begin 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/>
              </a:defRPr>
            </a:pPr>
            <a:r>
              <a:t>db.Transaction(func(tx *gorm.DB) error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FOR 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/>
              </a:defRPr>
            </a:pPr>
            <a:r>
              <a:t>clause.Locking 对借阅记录+设备行加排他锁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Update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/>
              </a:defRPr>
            </a:pPr>
            <a:r>
              <a:t>借阅记录状态 → '已通过' (通过 tx 实例)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Update Stock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/>
              </a:defRPr>
            </a:pPr>
            <a:r>
              <a:t>设备 available-- 扣减库存 (通过 tx 实例)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Commit / Rollback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/>
              </a:defRPr>
            </a:pPr>
            <a:r>
              <a:t>全部成功 → Commit；任一失败 → 自动 Rollback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Cascadia Code"/>
              </a:defRPr>
            </a:pPr>
            <a:r>
              <a:t>数据库优化 ·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0">
                <a:solidFill>
                  <a:srgbClr val="0A0A0A"/>
                </a:solidFill>
                <a:latin typeface="Inter"/>
              </a:defRPr>
            </a:pPr>
            <a:r>
              <a:t>连接池与索引优化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0A0A0A"/>
                </a:solidFill>
                <a:latin typeface="Microsoft YaHei UI"/>
              </a:defRPr>
            </a:pPr>
            <a:r>
              <a:t>GORM + MySQL 生产级数据库配置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743200"/>
            <a:ext cx="246888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Cascadia Code"/>
              </a:defRPr>
            </a:pPr>
            <a:r>
              <a:t>最大连接数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154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2FA7"/>
                </a:solidFill>
                <a:latin typeface="Inter"/>
              </a:defRPr>
            </a:pPr>
            <a: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0A0A0A"/>
                </a:solidFill>
                <a:latin typeface="Microsoft YaHei UI"/>
              </a:defRPr>
            </a:pPr>
            <a:r>
              <a:t>SetMaxOpenConns(100)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4760" y="2743200"/>
            <a:ext cx="246888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4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Cascadia Code"/>
              </a:defRPr>
            </a:pPr>
            <a:r>
              <a:t>空闲连接数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40" y="3154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2FA7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0A0A0A"/>
                </a:solidFill>
                <a:latin typeface="Microsoft YaHei UI"/>
              </a:defRPr>
            </a:pPr>
            <a:r>
              <a:t>SetMaxIdleConns(10)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743200"/>
            <a:ext cx="246888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Cascadia Code"/>
              </a:defRPr>
            </a:pPr>
            <a:r>
              <a:t>连接最大存活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154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2FA7"/>
                </a:solidFill>
                <a:latin typeface="Inter"/>
              </a:defRPr>
            </a:pPr>
            <a:r>
              <a:t>1h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0A0A0A"/>
                </a:solidFill>
                <a:latin typeface="Microsoft YaHei UI"/>
              </a:defRPr>
            </a:pPr>
            <a:r>
              <a:t>SetConnMaxLifetime(time.Hour)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2743200"/>
            <a:ext cx="246888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Cascadia Code"/>
              </a:defRPr>
            </a:pPr>
            <a:r>
              <a:t>GORM 日志级别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154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2FA7"/>
                </a:solidFill>
                <a:latin typeface="Inter"/>
              </a:defRPr>
            </a:pPr>
            <a:r>
              <a:t>Warn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0A0A0A"/>
                </a:solidFill>
                <a:latin typeface="Microsoft YaHei UI"/>
              </a:defRPr>
            </a:pPr>
            <a:r>
              <a:t>避免生产刷屏 + Zap 记录慢查询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4663440"/>
            <a:ext cx="246888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800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Cascadia Code"/>
              </a:defRPr>
            </a:pPr>
            <a:r>
              <a:t>高频索引字段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074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2FA7"/>
                </a:solidFill>
                <a:latin typeface="Inter"/>
              </a:defRPr>
            </a:pPr>
            <a:r>
              <a:t>3+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806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0A0A0A"/>
                </a:solidFill>
                <a:latin typeface="Microsoft YaHei UI"/>
              </a:defRPr>
            </a:pPr>
            <a:r>
              <a:t>equipment.status / borrow.user_id / borrow.status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94760" y="4663440"/>
            <a:ext cx="246888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77640" y="4800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Cascadia Code"/>
              </a:defRPr>
            </a:pPr>
            <a:r>
              <a:t>AutoMigrate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40" y="5074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2FA7"/>
                </a:solidFill>
                <a:latin typeface="Inter"/>
              </a:defRPr>
            </a:pPr>
            <a:r>
              <a:t>4 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40" y="5806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0A0A0A"/>
                </a:solidFill>
                <a:latin typeface="Microsoft YaHei UI"/>
              </a:defRPr>
            </a:pPr>
            <a:r>
              <a:t>SysUser · SysRole · LabEquipment · BorrowRecord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Aft>
                <a:spcPts val="0"/>
              </a:spcAft>
              <a:defRPr sz="4800" b="0">
                <a:solidFill>
                  <a:srgbClr val="FAFAF8"/>
                </a:solidFill>
                <a:latin typeface="Inter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AFAF8"/>
                </a:solidFill>
                <a:latin typeface="Microsoft YaHei UI"/>
              </a:defRPr>
            </a:pPr>
            <a:r>
              <a:t>配置层 Viper · 日志层 Zap+Lumberjack · 传输层 Gin+Validator · 认证层 JWT+bcrypt · 鉴权层 Casbin+GORMAdapter · 缓存层 go-redis · 持久层 GORM+MySQL · 安全层 Recovery+RateLimit+CORS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FAFAF8"/>
                </a:solidFill>
                <a:latin typeface="Cascadia Code"/>
              </a:defRPr>
            </a:pPr>
            <a:r>
              <a:t>黄子然 · 软件工程专业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5943600"/>
            <a:ext cx="2103120" cy="36576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